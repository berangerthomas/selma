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E6B8E">
              <a:alpha val="25000"/>
            </a:srgbClr>
          </a:solidFill>
          <a:ln w="12700">
            <a:solidFill>
              <a:srgbClr val="0E6B8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2196C4">
              <a:alpha val="20000"/>
            </a:srgbClr>
          </a:solidFill>
          <a:ln w="12700">
            <a:solidFill>
              <a:srgbClr val="2196C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91640"/>
            <a:ext cx="82296" cy="16459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MAMMALIA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Taxonomic Class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exploration of classification, characteristics,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origins, and diversity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Kingdom Animalia  ›  Phylum Chordata  ›  Class Mammalia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the Tree of Life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Mammalia sit in biological classification?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11680" y="13258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13258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58768" y="1335024"/>
            <a:ext cx="3474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58768" y="1335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Eukaryota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07792" y="1792224"/>
            <a:ext cx="22860" cy="164592"/>
          </a:xfrm>
          <a:prstGeom prst="rect">
            <a:avLst/>
          </a:prstGeom>
          <a:solidFill>
            <a:srgbClr val="C0CDD8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9202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5BA85A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1920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Kingdom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58768" y="1929384"/>
            <a:ext cx="3474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58768" y="19293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07792" y="2386584"/>
            <a:ext cx="22860" cy="164592"/>
          </a:xfrm>
          <a:prstGeom prst="rect">
            <a:avLst/>
          </a:prstGeom>
          <a:solidFill>
            <a:srgbClr val="C0C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2011680" y="25146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8B6FBB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2514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58768" y="2523744"/>
            <a:ext cx="3474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58768" y="2523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07792" y="2980944"/>
            <a:ext cx="22860" cy="164592"/>
          </a:xfrm>
          <a:prstGeom prst="rect">
            <a:avLst/>
          </a:prstGeom>
          <a:solidFill>
            <a:srgbClr val="C0CDD8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3108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9874A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3108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Subphylum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58768" y="3118104"/>
            <a:ext cx="3474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58768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07792" y="3575304"/>
            <a:ext cx="22860" cy="164592"/>
          </a:xfrm>
          <a:prstGeom prst="rect">
            <a:avLst/>
          </a:prstGeom>
          <a:solidFill>
            <a:srgbClr val="C0CDD8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37033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E6B8E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0" y="3703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58768" y="3712464"/>
            <a:ext cx="3474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58768" y="3712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MAMMALIA 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89520" y="1325880"/>
            <a:ext cx="1280160" cy="2788920"/>
          </a:xfrm>
          <a:prstGeom prst="rect">
            <a:avLst/>
          </a:prstGeom>
          <a:solidFill>
            <a:srgbClr val="EBF4FA"/>
          </a:solidFill>
          <a:ln w="6350">
            <a:solidFill>
              <a:srgbClr val="C8DF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417320"/>
            <a:ext cx="12344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Class Mammalia
</a:t>
            </a:r>
            <a:pPr algn="ctr"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~30 classes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Vertebrata.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~6,500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species.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Characteristics of Mammalia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mammals share these core synapomorphies (shared derived traits)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98448"/>
            <a:ext cx="64008" cy="1600200"/>
          </a:xfrm>
          <a:prstGeom prst="rect">
            <a:avLst/>
          </a:prstGeom>
          <a:solidFill>
            <a:srgbClr val="0E6B8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08176"/>
            <a:ext cx="384048" cy="384048"/>
          </a:xfrm>
          <a:prstGeom prst="ellipse">
            <a:avLst/>
          </a:prstGeom>
          <a:solidFill>
            <a:srgbClr val="0E6B8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Mammary Glands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73936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produce milk to nourish offspring — the defining trait that gives the class its name (Latin: mamma, breast). Present even in males in vestigial form.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27248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127248"/>
            <a:ext cx="64008" cy="1600200"/>
          </a:xfrm>
          <a:prstGeom prst="rect">
            <a:avLst/>
          </a:prstGeom>
          <a:solidFill>
            <a:srgbClr val="1A6B45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236976"/>
            <a:ext cx="384048" cy="384048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2186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Hair / Fur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602736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mammals possess hair or fur at some point in their life cycle. Composed of the protein keratin, hair provides insulation, sensory input, and camouflage.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298448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298448"/>
            <a:ext cx="64008" cy="1600200"/>
          </a:xfrm>
          <a:prstGeom prst="rect">
            <a:avLst/>
          </a:prstGeom>
          <a:solidFill>
            <a:srgbClr val="7B3F9E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408176"/>
            <a:ext cx="384048" cy="384048"/>
          </a:xfrm>
          <a:prstGeom prst="ellipse">
            <a:avLst/>
          </a:prstGeom>
          <a:solidFill>
            <a:srgbClr val="7B3F9E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Middle-Ear Bones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773936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malleus, incus, and stapes transmit sound vibrations. This trio evolved from jaw bones of mammalian ancestors — a key fossil marker for Mammalia.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127248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127248"/>
            <a:ext cx="64008" cy="1600200"/>
          </a:xfrm>
          <a:prstGeom prst="rect">
            <a:avLst/>
          </a:prstGeom>
          <a:solidFill>
            <a:srgbClr val="C0550A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236976"/>
            <a:ext cx="384048" cy="384048"/>
          </a:xfrm>
          <a:prstGeom prst="ellipse">
            <a:avLst/>
          </a:prstGeom>
          <a:solidFill>
            <a:srgbClr val="C0550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2186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Endothermy (Warm Blood)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602736"/>
            <a:ext cx="3886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 regulate their own body temperature metabolically, allowing activity across a wide range of environments and climates.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Subclasses of Mammalia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mammals are divided into three living subclasses based on reproductive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2697480" cy="658368"/>
          </a:xfrm>
          <a:prstGeom prst="rect">
            <a:avLst/>
          </a:prstGeom>
          <a:solidFill>
            <a:srgbClr val="0B6E5E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3258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Prototheria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" y="165506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(Monotremata)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99032" y="2057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Egg-laying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963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99032" y="24963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species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99032" y="29352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Platypus, Echidnas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7413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99032" y="3374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&amp; New Guinea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" y="4059936"/>
            <a:ext cx="2478024" cy="621792"/>
          </a:xfrm>
          <a:prstGeom prst="rect">
            <a:avLst/>
          </a:prstGeom>
          <a:solidFill>
            <a:srgbClr val="D6F0EB"/>
          </a:solidFill>
          <a:ln w="3810">
            <a:solidFill>
              <a:srgbClr val="0B6E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4078224"/>
            <a:ext cx="2368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mammals that lay eggs. Lack nipples; milk seeps through skin.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28016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280160"/>
            <a:ext cx="2697480" cy="658368"/>
          </a:xfrm>
          <a:prstGeom prst="rect">
            <a:avLst/>
          </a:prstGeom>
          <a:solidFill>
            <a:srgbClr val="7B3F9E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13258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Metatheria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10128" y="165506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E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(Marsupialia)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057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79392" y="2057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Pouch young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4963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79392" y="24963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~330 species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29352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79392" y="29352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Kangaroos, Opossums, Koalas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37413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3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79392" y="3374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Australia &amp; Americas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4059936"/>
            <a:ext cx="2478024" cy="621792"/>
          </a:xfrm>
          <a:prstGeom prst="rect">
            <a:avLst/>
          </a:prstGeom>
          <a:solidFill>
            <a:srgbClr val="EEE0F7"/>
          </a:solidFill>
          <a:ln w="3810">
            <a:solidFill>
              <a:srgbClr val="7B3F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4078224"/>
            <a:ext cx="2368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at very early developmental stage; complete growth in marsupium (pouch).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128016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280160"/>
            <a:ext cx="2697480" cy="658368"/>
          </a:xfrm>
          <a:prstGeom prst="rect">
            <a:avLst/>
          </a:prstGeom>
          <a:solidFill>
            <a:srgbClr val="0E6B8E"/>
          </a:solidFill>
          <a:ln/>
        </p:spPr>
      </p:sp>
      <p:sp>
        <p:nvSpPr>
          <p:cNvPr id="34" name="Text 32"/>
          <p:cNvSpPr/>
          <p:nvPr/>
        </p:nvSpPr>
        <p:spPr>
          <a:xfrm>
            <a:off x="6190488" y="13258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Eutheria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90488" y="1655064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(Placentalia)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2057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59752" y="205740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Placental birth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24963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59752" y="24963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~5,800+ species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9352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59752" y="29352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Rodents, Primates, Cetaceans…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337413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59752" y="33741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(every continent)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90488" y="4059936"/>
            <a:ext cx="2478024" cy="621792"/>
          </a:xfrm>
          <a:prstGeom prst="rect">
            <a:avLst/>
          </a:prstGeom>
          <a:solidFill>
            <a:srgbClr val="D6EEF7"/>
          </a:solidFill>
          <a:ln w="3810">
            <a:solidFill>
              <a:srgbClr val="0E6B8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45352" y="4078224"/>
            <a:ext cx="2368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Offspring nourished via placenta. Most diverse subclass (~97% of all mammals).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Origins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 descended from synapsid reptiles — a lineage stretching back over 300 million years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91640" y="1325880"/>
            <a:ext cx="45720" cy="3520440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1362456"/>
            <a:ext cx="256032" cy="256032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~310 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325880"/>
            <a:ext cx="150876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325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Carboniferous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32588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synapsids diverge from other amniotes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72768" y="1984248"/>
            <a:ext cx="256032" cy="256032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476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~270 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947672"/>
            <a:ext cx="1508760" cy="27432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1947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947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Therapsids (mammal-like reptiles) diversify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72768" y="2606040"/>
            <a:ext cx="256032" cy="256032"/>
          </a:xfrm>
          <a:prstGeom prst="ellipse">
            <a:avLst/>
          </a:prstGeom>
          <a:solidFill>
            <a:srgbClr val="CC7A0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56946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~230 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0" y="2569464"/>
            <a:ext cx="1508760" cy="274320"/>
          </a:xfrm>
          <a:prstGeom prst="rect">
            <a:avLst/>
          </a:prstGeom>
          <a:solidFill>
            <a:srgbClr val="CC7A00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25694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Triassic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56946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true mammals appear (Morganucodon, Adelobasileus)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72768" y="3227832"/>
            <a:ext cx="256032" cy="256032"/>
          </a:xfrm>
          <a:prstGeom prst="ellipse">
            <a:avLst/>
          </a:prstGeom>
          <a:solidFill>
            <a:srgbClr val="0E6B8E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19125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3191256"/>
            <a:ext cx="1508760" cy="274320"/>
          </a:xfrm>
          <a:prstGeom prst="rect">
            <a:avLst/>
          </a:prstGeom>
          <a:solidFill>
            <a:srgbClr val="0E6B8E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31912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Jurassic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319125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of Monotremata, Metatheria, Eutheria lineages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72768" y="3849624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8130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 Ma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11680" y="3813048"/>
            <a:ext cx="150876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2011680" y="3813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K–Pg Boundary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381304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extinction of non-avian dinosaurs → explosive mammalian radiation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72768" y="4471416"/>
            <a:ext cx="256032" cy="256032"/>
          </a:xfrm>
          <a:prstGeom prst="ellipse">
            <a:avLst/>
          </a:prstGeom>
          <a:solidFill>
            <a:srgbClr val="1A6B45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434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0" y="4434840"/>
            <a:ext cx="1508760" cy="274320"/>
          </a:xfrm>
          <a:prstGeom prst="rect">
            <a:avLst/>
          </a:prstGeom>
          <a:solidFill>
            <a:srgbClr val="1A6B45"/>
          </a:solidFill>
          <a:ln/>
        </p:spPr>
      </p:sp>
      <p:sp>
        <p:nvSpPr>
          <p:cNvPr id="33" name="Text 31"/>
          <p:cNvSpPr/>
          <p:nvPr/>
        </p:nvSpPr>
        <p:spPr>
          <a:xfrm>
            <a:off x="2011680" y="4434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Holocene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44348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~6,500 described species across all continents and oceans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by the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Mammalia is remarkably diverse in size, lifestyle, and ecological niche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1938528" cy="1389888"/>
          </a:xfrm>
          <a:prstGeom prst="rect">
            <a:avLst/>
          </a:prstGeom>
          <a:solidFill>
            <a:srgbClr val="0E6B8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89888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~6,500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20299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species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96312" y="1298448"/>
            <a:ext cx="1938528" cy="1389888"/>
          </a:xfrm>
          <a:prstGeom prst="rect">
            <a:avLst/>
          </a:prstGeom>
          <a:solidFill>
            <a:srgbClr val="7B3F9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389888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96312" y="20299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298448"/>
            <a:ext cx="1938528" cy="1389888"/>
          </a:xfrm>
          <a:prstGeom prst="rect">
            <a:avLst/>
          </a:prstGeom>
          <a:solidFill>
            <a:srgbClr val="C0550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389888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20299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(Bumblebee Bat)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57416" y="1298448"/>
            <a:ext cx="1938528" cy="1389888"/>
          </a:xfrm>
          <a:prstGeom prst="rect">
            <a:avLst/>
          </a:prstGeom>
          <a:solidFill>
            <a:srgbClr val="1A6B4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57416" y="1389888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190,000kg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57416" y="202996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(Blue Whale)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907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Orders (Examples)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16002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280160"/>
                <a:gridCol w="347472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Species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8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Rodentia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Rats, squirrels, beavers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Chiroptera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 bats, pipistrelles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Soricomorpha/Eulipotyphla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Shrews &amp; Moles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shrew, mole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Cetartiodactyla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Even-toed ungulates + whales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Deer, dolphins, hippos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Carnivora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Carnivores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Lions, wolves, seals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E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Lemurs, monkeys, apes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 occupy nearly every trophic level and habitat on Earth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98448"/>
            <a:ext cx="64008" cy="1115568"/>
          </a:xfrm>
          <a:prstGeom prst="rect">
            <a:avLst/>
          </a:prstGeom>
          <a:solidFill>
            <a:srgbClr val="B02A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Predators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carnivores (wolves, orcas, lions) regulate prey populations, preventing overgrazing and maintaining ecosystem balance — known as the 'trophic cascade' effect.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298448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98448"/>
            <a:ext cx="64008" cy="1115568"/>
          </a:xfrm>
          <a:prstGeom prst="rect">
            <a:avLst/>
          </a:prstGeom>
          <a:solidFill>
            <a:srgbClr val="2A7A2A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Herbivores &amp; Grazers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642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herbivores (elephants, bison, wildebeest) shape landscapes by grazing, seed dispersal, and nutrient cycling through their dung.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78608"/>
            <a:ext cx="64008" cy="1115568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51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Dispersers &amp; Pollinators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9443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Bats are the most important mammalian pollinators. Frugivores (fruit eaters) spread seeds over vast distances, aiding plant regeneration.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578608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78608"/>
            <a:ext cx="64008" cy="111556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51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Engineers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9443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Burrowing species (moles, ground squirrels, badgers) aerate soil, improve drainage, and create habitat structures used by hundreds of other species.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58768"/>
            <a:ext cx="64008" cy="1115568"/>
          </a:xfrm>
          <a:prstGeom prst="rect">
            <a:avLst/>
          </a:prstGeom>
          <a:solidFill>
            <a:srgbClr val="0E6B8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Species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2245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Beavers ('ecosystem engineers') build dams that create wetlands. Sea otters control sea urchin populations, preserving kelp forests.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858768"/>
            <a:ext cx="41605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858768"/>
            <a:ext cx="64008" cy="1115568"/>
          </a:xfrm>
          <a:prstGeom prst="rect">
            <a:avLst/>
          </a:prstGeom>
          <a:solidFill>
            <a:srgbClr val="4A668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Decomposers &amp; Scavengers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2245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Hyenas, wolverines, and others recycle nutrients by consuming carrion, preventing pathogen build-up and returning minerals to the soil.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mammalian species face serious threats in the 21st century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48840" y="1325880"/>
            <a:ext cx="2560320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0" y="1325880"/>
            <a:ext cx="2011680" cy="420624"/>
          </a:xfrm>
          <a:prstGeom prst="rect">
            <a:avLst/>
          </a:prstGeom>
          <a:solidFill>
            <a:srgbClr val="E5EB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624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Concern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82312" y="13624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874520"/>
            <a:ext cx="320040" cy="420624"/>
          </a:xfrm>
          <a:prstGeom prst="rect">
            <a:avLst/>
          </a:prstGeom>
          <a:solidFill>
            <a:srgbClr val="82C341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1874520"/>
            <a:ext cx="4251960" cy="420624"/>
          </a:xfrm>
          <a:prstGeom prst="rect">
            <a:avLst/>
          </a:prstGeom>
          <a:solidFill>
            <a:srgbClr val="E5EB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110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Threatened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2032" y="19110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C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423160"/>
            <a:ext cx="548640" cy="420624"/>
          </a:xfrm>
          <a:prstGeom prst="rect">
            <a:avLst/>
          </a:prstGeom>
          <a:solidFill>
            <a:srgbClr val="F5D2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697480" y="2423160"/>
            <a:ext cx="4023360" cy="420624"/>
          </a:xfrm>
          <a:prstGeom prst="rect">
            <a:avLst/>
          </a:prstGeom>
          <a:solidFill>
            <a:srgbClr val="E5EB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59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70632" y="245973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D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2971800"/>
            <a:ext cx="548640" cy="42062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Shape 15"/>
          <p:cNvSpPr/>
          <p:nvPr/>
        </p:nvSpPr>
        <p:spPr>
          <a:xfrm>
            <a:off x="2697480" y="2971800"/>
            <a:ext cx="4023360" cy="420624"/>
          </a:xfrm>
          <a:prstGeom prst="rect">
            <a:avLst/>
          </a:prstGeom>
          <a:solidFill>
            <a:srgbClr val="E5EBF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083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70632" y="30083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48840" y="3520440"/>
            <a:ext cx="320040" cy="4206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3520440"/>
            <a:ext cx="4251960" cy="420624"/>
          </a:xfrm>
          <a:prstGeom prst="rect">
            <a:avLst/>
          </a:prstGeom>
          <a:solidFill>
            <a:srgbClr val="E5EBF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570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End.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42032" y="355701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4069080"/>
            <a:ext cx="274320" cy="420624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23160" y="4069080"/>
            <a:ext cx="4297680" cy="420624"/>
          </a:xfrm>
          <a:prstGeom prst="rect">
            <a:avLst/>
          </a:prstGeom>
          <a:solidFill>
            <a:srgbClr val="E5EBF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056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 (recent)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96312" y="410565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Threats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60720" y="1700784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1700784"/>
            <a:ext cx="54864" cy="5120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5888736" y="17282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Loss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88736" y="19476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Deforestation, urbanisation, agriculture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2304288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2304288"/>
            <a:ext cx="54864" cy="5120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5" name="Text 33"/>
          <p:cNvSpPr/>
          <p:nvPr/>
        </p:nvSpPr>
        <p:spPr>
          <a:xfrm>
            <a:off x="5888736" y="2331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Overexploitation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88736" y="25511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Hunting, bushmeat, illegal wildlife trade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60720" y="2907792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0720" y="2907792"/>
            <a:ext cx="54864" cy="5120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9" name="Text 37"/>
          <p:cNvSpPr/>
          <p:nvPr/>
        </p:nvSpPr>
        <p:spPr>
          <a:xfrm>
            <a:off x="5888736" y="29352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88736" y="31546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ranges, phenological mismatch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3511296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60720" y="3511296"/>
            <a:ext cx="54864" cy="5120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3" name="Text 41"/>
          <p:cNvSpPr/>
          <p:nvPr/>
        </p:nvSpPr>
        <p:spPr>
          <a:xfrm>
            <a:off x="5888736" y="35387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Species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88736" y="37581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Predation, competition, disease spread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60720" y="4114800"/>
            <a:ext cx="31089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4114800"/>
            <a:ext cx="54864" cy="5120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7" name="Text 45"/>
          <p:cNvSpPr/>
          <p:nvPr/>
        </p:nvSpPr>
        <p:spPr>
          <a:xfrm>
            <a:off x="5888736" y="4142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88736" y="4361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Plastic, pesticides, noise &amp; light pollution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IUCN Red List (approximate distribution across ~5,500 assessed species)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0E6B8E">
              <a:alpha val="20000"/>
            </a:srgbClr>
          </a:solidFill>
          <a:ln w="12700">
            <a:solidFill>
              <a:srgbClr val="0E6B8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8368"/>
            <a:ext cx="82296" cy="12801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0789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MAMMALIA –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09344"/>
            <a:ext cx="256032" cy="256032"/>
          </a:xfrm>
          <a:prstGeom prst="ellipse">
            <a:avLst/>
          </a:prstGeom>
          <a:solidFill>
            <a:srgbClr val="0E6B8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Mammalia is a Class within the phylum Chordata, defined by shared derived traits (mammary glands, hair, three middle-ear bones, endothermy).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231136"/>
            <a:ext cx="256032" cy="256032"/>
          </a:xfrm>
          <a:prstGeom prst="ellipse">
            <a:avLst/>
          </a:prstGeom>
          <a:solidFill>
            <a:srgbClr val="0E6B8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subclasses exist: Prototheria (egg-laying), Metatheria (marsupials), and the dominant Eutheria (placentals, ~97% of species).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256032" cy="256032"/>
          </a:xfrm>
          <a:prstGeom prst="ellipse">
            <a:avLst/>
          </a:prstGeom>
          <a:solidFill>
            <a:srgbClr val="0E6B8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8346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 evolved from synapsid ancestors ~230 million years ago; the K-Pg extinction (~66 Ma) triggered an explosive radiation.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74720"/>
            <a:ext cx="256032" cy="256032"/>
          </a:xfrm>
          <a:prstGeom prst="ellipse">
            <a:avLst/>
          </a:prstGeom>
          <a:solidFill>
            <a:srgbClr val="0E6B8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45643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~6,500 species spread across 19 orders, Mammalia occupies every major habitat and fulfils critical ecological roles.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096512"/>
            <a:ext cx="256032" cy="256032"/>
          </a:xfrm>
          <a:prstGeom prst="ellipse">
            <a:avLst/>
          </a:prstGeom>
          <a:solidFill>
            <a:srgbClr val="0E6B8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07822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25% of mammal species are currently threatened — habitat loss and overexploitation are the leading drivers.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Mammalia – The Taxonomic Class</dc:title>
  <dc:subject>PptxGenJS Presentation</dc:subject>
  <dc:creator>PptxGenJS</dc:creator>
  <cp:lastModifiedBy>PptxGenJS</cp:lastModifiedBy>
  <cp:revision>1</cp:revision>
  <dcterms:created xsi:type="dcterms:W3CDTF">2026-04-20T19:11:20Z</dcterms:created>
  <dcterms:modified xsi:type="dcterms:W3CDTF">2026-04-20T19:11:20Z</dcterms:modified>
</cp:coreProperties>
</file>