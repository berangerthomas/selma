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2743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C8993D">
                    <a:alpha val="20000"/>
                  </a:srgbClr>
                </a:solidFill>
              </a:rPr>
              <a:t>Ω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</a:rPr>
              <a:t>THE GREEK ALPHABET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8993D"/>
                </a:solidFill>
              </a:rPr>
              <a:t>Origins, Structure, and Legacy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C8993D"/>
          </a:solidFill>
          <a:ln w="12700">
            <a:solidFill>
              <a:srgbClr val="C89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c. 800 BCE — Present  ·  Writing Systems DAG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300" kern="0" dirty="0">
                <a:solidFill>
                  <a:srgbClr val="1A2744"/>
                </a:solidFill>
              </a:rPr>
              <a:t>ORIGINS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887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Phoenician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Abjad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c. 1050 BCE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1887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Alphabet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c. 800 BCE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137160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11887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Latin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Alphabet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c. 700 BCE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137160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955280" y="1097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11887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Roman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1874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Today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</a:rPr>
              <a:t>The Key Innovation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The Phoenician abjad had no vowels. Greek traders repurposed consonant letters for sounds absent in Greek — creating history's first true alphabet, with both consonants AND vowels represented as distinct letters.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93D"/>
                </a:solidFill>
              </a:rPr>
              <a:t>Phoenician 𐤀 (ʾAleph) = consonant /ʔ/   →   Greek Α α (Alpha) = vowel /a/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300" kern="0" dirty="0">
                <a:solidFill>
                  <a:srgbClr val="C8993D"/>
                </a:solidFill>
              </a:rPr>
              <a:t>THE 24 LETTERS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938528" cy="630936"/>
          </a:xfrm>
          <a:prstGeom prst="rect">
            <a:avLst/>
          </a:prstGeom>
          <a:solidFill>
            <a:srgbClr val="1E3A5F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59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Α 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877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Alpha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/a/  →  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8229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859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Β 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63240" y="877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170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/b/  →  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0" y="8229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859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Γ 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877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Gamma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170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/g/  →  C,G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8229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859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Δ 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877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170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/d/  →  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508760"/>
            <a:ext cx="1938528" cy="630936"/>
          </a:xfrm>
          <a:prstGeom prst="rect">
            <a:avLst/>
          </a:prstGeom>
          <a:solidFill>
            <a:srgbClr val="1E3A5F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5453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Ε 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15636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Epsilon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18562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/e/  →  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15087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15453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Ζ ζ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063240" y="15636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18562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/dz/  →  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1508760"/>
            <a:ext cx="1938528" cy="630936"/>
          </a:xfrm>
          <a:prstGeom prst="rect">
            <a:avLst/>
          </a:prstGeom>
          <a:solidFill>
            <a:srgbClr val="1E3A5F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15453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Η 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74920" y="15636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18562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/ɛː/  →  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5087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5453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Θ θ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15636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18562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/tʰ/  →  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194560"/>
            <a:ext cx="1938528" cy="630936"/>
          </a:xfrm>
          <a:prstGeom prst="rect">
            <a:avLst/>
          </a:prstGeom>
          <a:solidFill>
            <a:srgbClr val="1E3A5F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2311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Ι ι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51560" y="22494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Iota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25420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/i/  →  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21945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2311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Κ κ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063240" y="22494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Kappa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063240" y="25420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/k/  →  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21945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22311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Λ λ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074920" y="22494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Lambda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74920" y="25420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/l/  →  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21945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22311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Μ μ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086600" y="22494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86600" y="25420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/m/  →  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28803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29169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Ν ν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51560" y="2935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51560" y="3227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/n/  →  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0" y="28803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0" y="29169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Ξ ξ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063240" y="2935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Xi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063240" y="3227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/ks/  →  X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97680" y="2880360"/>
            <a:ext cx="1938528" cy="630936"/>
          </a:xfrm>
          <a:prstGeom prst="rect">
            <a:avLst/>
          </a:prstGeom>
          <a:solidFill>
            <a:srgbClr val="1E3A5F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0" y="29169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Ο ο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5074920" y="2935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Omicron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74920" y="3227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/o/  →  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09360" y="28803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29169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Π π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086600" y="2935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086600" y="32278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/p/  →  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35661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36027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Ρ ρ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051560" y="36210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Rho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51560" y="39136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/r/  →  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286000" y="35661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0" y="36027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Σ σ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3063240" y="36210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Sigma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063240" y="39136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/s/  →  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297680" y="35661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97680" y="36027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Τ τ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5074920" y="36210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Tau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074920" y="39136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/t/  →  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309360" y="3566160"/>
            <a:ext cx="1938528" cy="630936"/>
          </a:xfrm>
          <a:prstGeom prst="rect">
            <a:avLst/>
          </a:prstGeom>
          <a:solidFill>
            <a:srgbClr val="1E3A5F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09360" y="36027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Υ υ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7086600" y="36210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Upsilon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086600" y="39136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/y/  →  U,Y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74320" y="42519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288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Φ φ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051560" y="4306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Phi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1051560" y="4599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/pʰ/  →  Ph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286000" y="42519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86000" y="4288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Χ χ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3063240" y="4306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3063240" y="4599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/kʰ/  →  Ch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297680" y="4251960"/>
            <a:ext cx="1938528" cy="630936"/>
          </a:xfrm>
          <a:prstGeom prst="rect">
            <a:avLst/>
          </a:prstGeom>
          <a:solidFill>
            <a:srgbClr val="152238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97680" y="4288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Ψ ψ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5074920" y="4306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Psi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074920" y="4599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/ps/  →  Ps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09360" y="4251960"/>
            <a:ext cx="1938528" cy="630936"/>
          </a:xfrm>
          <a:prstGeom prst="rect">
            <a:avLst/>
          </a:prstGeom>
          <a:solidFill>
            <a:srgbClr val="1E3A5F"/>
          </a:solidFill>
          <a:ln w="6350">
            <a:solidFill>
              <a:srgbClr val="2D4A6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09360" y="4288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93D"/>
                </a:solidFill>
              </a:rPr>
              <a:t>Ω ω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7086600" y="43068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Omega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086600" y="459943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/ɔː/  →  —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</a:rPr>
              <a:t>★ Shaded = vowel letters (Greek innovation; absent in Phoenician)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2744"/>
                </a:solidFill>
              </a:rPr>
              <a:t>GREEK'S SCRIPT CHILDREN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0" y="82296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0" y="868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Ω GREEK  c. 800 BCE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flipH="1">
            <a:off x="1051560" y="1508760"/>
            <a:ext cx="3520440" cy="59436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4320" y="21031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15798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Etruscan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c. 700 BCE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E8F8"/>
                </a:solidFill>
              </a:rPr>
              <a:t>→ Latin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 flipH="1">
            <a:off x="2971800" y="1508760"/>
            <a:ext cx="1600200" cy="59436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94560" y="21031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EA5E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15798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Glagolitic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862 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E8F8"/>
                </a:solidFill>
              </a:rPr>
              <a:t>→ Cyrillic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320040" cy="59436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14800" y="21031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369A1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215798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Cyrillic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9th c. 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E8F8"/>
                </a:solidFill>
              </a:rPr>
              <a:t>~250M speakers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1508760"/>
            <a:ext cx="2240280" cy="59436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35040" y="21031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215798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Coptic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2nd–4th c.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E8F8"/>
                </a:solidFill>
              </a:rPr>
              <a:t>DAG: + Demotic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508760"/>
            <a:ext cx="3794760" cy="59436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589520" y="21031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215798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Armenian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405 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E8F8"/>
                </a:solidFill>
              </a:rPr>
              <a:t>DAG: + Syriac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2880360"/>
            <a:ext cx="914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Latin → Modern Roman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93D"/>
                </a:solidFill>
              </a:rPr>
              <a:t>DAG nodes: Latin (← Etruscan + Greek) · Cyrillic (← Greek + Glagolitic) · Coptic (← Greek + Demotic) · Armenian (← Greek + Syriac)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300" kern="0" dirty="0">
                <a:solidFill>
                  <a:srgbClr val="C8993D"/>
                </a:solidFill>
              </a:rPr>
              <a:t>LEGACY &amp; REACH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011680" cy="1920240"/>
          </a:xfrm>
          <a:prstGeom prst="rect">
            <a:avLst/>
          </a:prstGeom>
          <a:solidFill>
            <a:srgbClr val="1E2F52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46E5"/>
                </a:solidFill>
              </a:rPr>
              <a:t>3B+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People write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Latin-derived scripts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868680"/>
            <a:ext cx="2011680" cy="1920240"/>
          </a:xfrm>
          <a:prstGeom prst="rect">
            <a:avLst/>
          </a:prstGeom>
          <a:solidFill>
            <a:srgbClr val="1E2F52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369A1"/>
                </a:solidFill>
              </a:rPr>
              <a:t>250M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468880" y="19202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People write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Cyrillic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2011680" cy="1920240"/>
          </a:xfrm>
          <a:prstGeom prst="rect">
            <a:avLst/>
          </a:prstGeom>
          <a:solidFill>
            <a:srgbClr val="1E2F52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</a:rPr>
              <a:t>24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Original Greek letters,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still used in maths &amp; science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868680"/>
            <a:ext cx="2011680" cy="1920240"/>
          </a:xfrm>
          <a:prstGeom prst="rect">
            <a:avLst/>
          </a:prstGeom>
          <a:solidFill>
            <a:srgbClr val="1E2F52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</a:rPr>
              <a:t>5+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858000" y="19202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Major scripts descended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directly from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93D"/>
                </a:solidFill>
              </a:rPr>
              <a:t>Greek in Science &amp; Mathematics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π (Pi)  ·  Σ (Sum)  ·  Δ (Delta / Change)  ·  λ (Lambda)  ·  μ (Mu)  ·  σ (Sigma)  ·  α β γ (Alpha, Beta, Gamma)  ·  Ω (Ohm)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B0"/>
                </a:solidFill>
              </a:rPr>
              <a:t>"The alphabet the Greeks inherited was a minor Semitic script. The alphabet they passed on changed the world."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Greek Alphabet — Origins and Legacy</dc:title>
  <dc:subject>PptxGenJS Presentation</dc:subject>
  <dc:creator>Writing Systems DAG</dc:creator>
  <cp:lastModifiedBy>Writing Systems DAG</cp:lastModifiedBy>
  <cp:revision>1</cp:revision>
  <dcterms:created xsi:type="dcterms:W3CDTF">2026-05-02T07:39:08Z</dcterms:created>
  <dcterms:modified xsi:type="dcterms:W3CDTF">2026-05-02T07:39:08Z</dcterms:modified>
</cp:coreProperties>
</file>